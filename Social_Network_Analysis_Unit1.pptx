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0" r:id="rId3"/>
    <p:sldId id="258" r:id="rId4"/>
    <p:sldId id="281" r:id="rId5"/>
    <p:sldId id="282" r:id="rId6"/>
    <p:sldId id="259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0" r:id="rId16"/>
    <p:sldId id="261" r:id="rId17"/>
    <p:sldId id="283" r:id="rId18"/>
    <p:sldId id="284" r:id="rId19"/>
    <p:sldId id="285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Social means human interaction with each other. A social network is a structure where humans or groups are connected through relationships and interactions. These connections allow people to communicate, share information, and influence each other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Examples of social networks include:*</a:t>
            </a:r>
          </a:p>
          <a:p>
            <a:r>
              <a:rPr lang="en-US" b="1" dirty="0" smtClean="0"/>
              <a:t>Family</a:t>
            </a:r>
            <a:r>
              <a:rPr lang="en-US" dirty="0" smtClean="0"/>
              <a:t> – family members interact and support each other.</a:t>
            </a:r>
          </a:p>
          <a:p>
            <a:r>
              <a:rPr lang="en-US" b="1" dirty="0" smtClean="0"/>
              <a:t>Classroom</a:t>
            </a:r>
            <a:r>
              <a:rPr lang="en-US" dirty="0" smtClean="0"/>
              <a:t> – students and faculty interact, collaborate, and share knowledge.</a:t>
            </a:r>
          </a:p>
          <a:p>
            <a:r>
              <a:rPr lang="en-US" b="1" dirty="0" smtClean="0"/>
              <a:t>Friend circles</a:t>
            </a:r>
            <a:r>
              <a:rPr lang="en-US" dirty="0" smtClean="0"/>
              <a:t> – friends communicate and influence each other’s behavior.</a:t>
            </a:r>
          </a:p>
          <a:p>
            <a:r>
              <a:rPr lang="en-US" b="1" dirty="0" smtClean="0"/>
              <a:t>Social media platforms</a:t>
            </a:r>
            <a:r>
              <a:rPr lang="en-US" dirty="0" smtClean="0"/>
              <a:t> – </a:t>
            </a:r>
            <a:r>
              <a:rPr lang="en-US" dirty="0" err="1" smtClean="0"/>
              <a:t>WhatsApp</a:t>
            </a:r>
            <a:r>
              <a:rPr lang="en-US" dirty="0" smtClean="0"/>
              <a:t>, </a:t>
            </a:r>
            <a:r>
              <a:rPr lang="en-US" dirty="0" err="1" smtClean="0"/>
              <a:t>Instagram</a:t>
            </a:r>
            <a:r>
              <a:rPr lang="en-US" dirty="0" smtClean="0"/>
              <a:t>, </a:t>
            </a:r>
            <a:r>
              <a:rPr lang="en-US" dirty="0" err="1" smtClean="0"/>
              <a:t>Facebook</a:t>
            </a:r>
            <a:r>
              <a:rPr lang="en-US" dirty="0" smtClean="0"/>
              <a:t>, LinkedIn, etc., connect individuals and communities and allow information to spread quickly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Note: Social network ≠ Social network analysis, but analysis depends on networks.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Social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Social Network Analysis (SNA)?</a:t>
            </a:r>
          </a:p>
          <a:p>
            <a:r>
              <a:rPr lang="en-US" dirty="0" smtClean="0"/>
              <a:t>Social Network Analysis (SNA) is the </a:t>
            </a:r>
            <a:r>
              <a:rPr lang="en-US" b="1" dirty="0" smtClean="0"/>
              <a:t>systematic study of social networks</a:t>
            </a:r>
            <a:r>
              <a:rPr lang="en-US" dirty="0" smtClean="0"/>
              <a:t> to understand </a:t>
            </a:r>
            <a:r>
              <a:rPr lang="en-US" b="1" dirty="0" smtClean="0"/>
              <a:t>relationships, interactions, and connections</a:t>
            </a:r>
            <a:r>
              <a:rPr lang="en-US" dirty="0" smtClean="0"/>
              <a:t> among individuals, groups, or organizations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SNA:</a:t>
            </a:r>
          </a:p>
          <a:p>
            <a:r>
              <a:rPr lang="en-US" b="1" dirty="0" smtClean="0"/>
              <a:t>People, groups, or organizations</a:t>
            </a:r>
            <a:r>
              <a:rPr lang="en-US" dirty="0" smtClean="0"/>
              <a:t> are called </a:t>
            </a:r>
            <a:r>
              <a:rPr lang="en-US" b="1" dirty="0" smtClean="0"/>
              <a:t>nodes</a:t>
            </a:r>
            <a:endParaRPr lang="en-US" dirty="0" smtClean="0"/>
          </a:p>
          <a:p>
            <a:r>
              <a:rPr lang="en-US" b="1" dirty="0" smtClean="0"/>
              <a:t>Relationships or interactions</a:t>
            </a:r>
            <a:r>
              <a:rPr lang="en-US" dirty="0" smtClean="0"/>
              <a:t> between them are called </a:t>
            </a:r>
            <a:r>
              <a:rPr lang="en-US" b="1" dirty="0" smtClean="0"/>
              <a:t>edges or links</a:t>
            </a:r>
            <a:endParaRPr lang="en-US" dirty="0" smtClean="0"/>
          </a:p>
          <a:p>
            <a:r>
              <a:rPr lang="en-US" dirty="0" smtClean="0"/>
              <a:t>SNA does not focus only on </a:t>
            </a:r>
            <a:r>
              <a:rPr lang="en-US" i="1" dirty="0" smtClean="0"/>
              <a:t>individual people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Instead, it focuses on </a:t>
            </a:r>
            <a:r>
              <a:rPr lang="en-US" b="1" dirty="0" smtClean="0"/>
              <a:t>how people are connected</a:t>
            </a:r>
            <a:r>
              <a:rPr lang="en-US" dirty="0" smtClean="0"/>
              <a:t> and </a:t>
            </a:r>
            <a:r>
              <a:rPr lang="en-US" b="1" dirty="0" smtClean="0"/>
              <a:t>how information, influence, or behavior flows through these connections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simple words,</a:t>
            </a:r>
            <a:br>
              <a:rPr lang="en-US" dirty="0" smtClean="0"/>
            </a:br>
            <a:r>
              <a:rPr lang="en-US" dirty="0" smtClean="0"/>
              <a:t>S</a:t>
            </a:r>
            <a:r>
              <a:rPr lang="en-US" b="1" dirty="0" smtClean="0"/>
              <a:t>ocial </a:t>
            </a:r>
            <a:r>
              <a:rPr lang="en-US" b="1" dirty="0" smtClean="0"/>
              <a:t>network = connections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</a:t>
            </a:r>
            <a:r>
              <a:rPr lang="en-US" b="1" dirty="0" smtClean="0"/>
              <a:t>ocial </a:t>
            </a:r>
            <a:r>
              <a:rPr lang="en-US" b="1" dirty="0" smtClean="0"/>
              <a:t>network analysis = studying and analyzing those connections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Social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WhatsApp groups</a:t>
            </a:r>
          </a:p>
          <a:p>
            <a:r>
              <a:t>Classroom interactions</a:t>
            </a:r>
          </a:p>
          <a:p>
            <a:r>
              <a:t>Residential societies</a:t>
            </a:r>
          </a:p>
          <a:p>
            <a:r>
              <a:t>Family and friend networks</a:t>
            </a:r>
          </a:p>
          <a:p>
            <a:r>
              <a:t>Workplaces</a:t>
            </a:r>
          </a:p>
          <a:p>
            <a:r>
              <a:t>Social media platforms (Facebook, Instagram, LinkedIn, WhatsApp, GitHub)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Class </a:t>
            </a:r>
            <a:r>
              <a:rPr lang="en-US" b="1" dirty="0" err="1" smtClean="0"/>
              <a:t>WhatsApp</a:t>
            </a:r>
            <a:r>
              <a:rPr lang="en-US" b="1" dirty="0" smtClean="0"/>
              <a:t> / Telegram Groups </a:t>
            </a:r>
            <a:endParaRPr lang="en-US" dirty="0" smtClean="0"/>
          </a:p>
          <a:p>
            <a:r>
              <a:rPr lang="en-US" dirty="0" smtClean="0"/>
              <a:t>Students in engineering colleges </a:t>
            </a:r>
            <a:r>
              <a:rPr lang="en-US" dirty="0" smtClean="0"/>
              <a:t>are </a:t>
            </a:r>
            <a:r>
              <a:rPr lang="en-US" dirty="0" smtClean="0"/>
              <a:t>connected via </a:t>
            </a:r>
            <a:r>
              <a:rPr lang="en-US" dirty="0" err="1" smtClean="0"/>
              <a:t>WhatsApp</a:t>
            </a:r>
            <a:r>
              <a:rPr lang="en-US" dirty="0" smtClean="0"/>
              <a:t>/Telegram groups.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Teachers can identify </a:t>
            </a:r>
            <a:r>
              <a:rPr lang="en-US" b="1" dirty="0" smtClean="0"/>
              <a:t>active participants</a:t>
            </a:r>
            <a:r>
              <a:rPr lang="en-US" dirty="0" smtClean="0"/>
              <a:t>, </a:t>
            </a:r>
            <a:r>
              <a:rPr lang="en-US" b="1" dirty="0" smtClean="0"/>
              <a:t>group leaders</a:t>
            </a:r>
            <a:r>
              <a:rPr lang="en-US" dirty="0" smtClean="0"/>
              <a:t>, or students who need attention.</a:t>
            </a:r>
          </a:p>
          <a:p>
            <a:r>
              <a:rPr lang="en-US" dirty="0" smtClean="0"/>
              <a:t>Helps in </a:t>
            </a:r>
            <a:r>
              <a:rPr lang="en-US" b="1" dirty="0" smtClean="0"/>
              <a:t>monitoring participation</a:t>
            </a:r>
            <a:r>
              <a:rPr lang="en-US" dirty="0" smtClean="0"/>
              <a:t> and </a:t>
            </a:r>
            <a:r>
              <a:rPr lang="en-US" b="1" dirty="0" smtClean="0"/>
              <a:t>peer collaboration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Classroom Interactions in Colleges / Universities</a:t>
            </a:r>
            <a:endParaRPr lang="en-US" dirty="0" smtClean="0"/>
          </a:p>
          <a:p>
            <a:r>
              <a:rPr lang="en-US" dirty="0" smtClean="0"/>
              <a:t>Students interact with faculty and peers during lectures, lab sessions, or group projects.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Identify </a:t>
            </a:r>
            <a:r>
              <a:rPr lang="en-US" b="1" dirty="0" smtClean="0"/>
              <a:t>group leaders</a:t>
            </a:r>
            <a:r>
              <a:rPr lang="en-US" dirty="0" smtClean="0"/>
              <a:t> or </a:t>
            </a:r>
            <a:r>
              <a:rPr lang="en-US" b="1" dirty="0" smtClean="0"/>
              <a:t>students who influence discussions</a:t>
            </a:r>
            <a:r>
              <a:rPr lang="en-US" dirty="0" smtClean="0"/>
              <a:t>, e.g., who explains concepts to peers in Chennai colleges.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Residential Societies in </a:t>
            </a:r>
            <a:r>
              <a:rPr lang="en-US" b="1" dirty="0" smtClean="0"/>
              <a:t>India </a:t>
            </a:r>
            <a:endParaRPr lang="en-US" dirty="0" smtClean="0"/>
          </a:p>
          <a:p>
            <a:r>
              <a:rPr lang="en-US" dirty="0" smtClean="0"/>
              <a:t>Residents communicate about events, emergencies, or local festivals.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Local authorities can identify </a:t>
            </a:r>
            <a:r>
              <a:rPr lang="en-US" b="1" dirty="0" smtClean="0"/>
              <a:t>key community leaders</a:t>
            </a:r>
            <a:r>
              <a:rPr lang="en-US" dirty="0" smtClean="0"/>
              <a:t> who can spread messages efficiently.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Temples or Community Groups (e.g., </a:t>
            </a:r>
            <a:r>
              <a:rPr lang="en-US" b="1" dirty="0" err="1" smtClean="0"/>
              <a:t>Tirupati</a:t>
            </a:r>
            <a:r>
              <a:rPr lang="en-US" b="1" dirty="0" smtClean="0"/>
              <a:t>, </a:t>
            </a:r>
            <a:r>
              <a:rPr lang="en-US" b="1" dirty="0" err="1" smtClean="0"/>
              <a:t>Meenakshi</a:t>
            </a:r>
            <a:r>
              <a:rPr lang="en-US" b="1" dirty="0" smtClean="0"/>
              <a:t> Temple, ISKCON Bangalore)</a:t>
            </a:r>
            <a:endParaRPr lang="en-US" dirty="0" smtClean="0"/>
          </a:p>
          <a:p>
            <a:r>
              <a:rPr lang="en-US" dirty="0" smtClean="0"/>
              <a:t>Devotees or volunteers are connected through temple activities or festivals.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Organizers can track </a:t>
            </a:r>
            <a:r>
              <a:rPr lang="en-US" b="1" dirty="0" smtClean="0"/>
              <a:t>volunteer activity</a:t>
            </a:r>
            <a:r>
              <a:rPr lang="en-US" dirty="0" smtClean="0"/>
              <a:t>, </a:t>
            </a:r>
            <a:r>
              <a:rPr lang="en-US" b="1" dirty="0" smtClean="0"/>
              <a:t>information flow</a:t>
            </a:r>
            <a:r>
              <a:rPr lang="en-US" dirty="0" smtClean="0"/>
              <a:t>, and </a:t>
            </a:r>
            <a:r>
              <a:rPr lang="en-US" b="1" dirty="0" smtClean="0"/>
              <a:t>coordinate efficiently</a:t>
            </a:r>
            <a:r>
              <a:rPr lang="en-US" dirty="0" smtClean="0"/>
              <a:t> for large events.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Local Political Networks (Municipality or </a:t>
            </a:r>
            <a:r>
              <a:rPr lang="en-US" b="1" dirty="0" err="1" smtClean="0"/>
              <a:t>Panchayat</a:t>
            </a:r>
            <a:r>
              <a:rPr lang="en-US" b="1" dirty="0" smtClean="0"/>
              <a:t> level)</a:t>
            </a:r>
            <a:endParaRPr lang="en-US" dirty="0" smtClean="0"/>
          </a:p>
          <a:p>
            <a:r>
              <a:rPr lang="en-US" dirty="0" smtClean="0"/>
              <a:t>Local leaders, council members, and citizens interact on </a:t>
            </a:r>
            <a:r>
              <a:rPr lang="en-US" dirty="0" err="1" smtClean="0"/>
              <a:t>WhatsApp</a:t>
            </a:r>
            <a:r>
              <a:rPr lang="en-US" dirty="0" smtClean="0"/>
              <a:t> groups or in person.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Helps political parties or NGOs understand </a:t>
            </a:r>
            <a:r>
              <a:rPr lang="en-US" b="1" dirty="0" smtClean="0"/>
              <a:t>influential community members</a:t>
            </a:r>
            <a:r>
              <a:rPr lang="en-US" dirty="0" smtClean="0"/>
              <a:t> and </a:t>
            </a:r>
            <a:r>
              <a:rPr lang="en-US" b="1" dirty="0" smtClean="0"/>
              <a:t>information dissemination patterns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E-commerce and Delivery Platforms (</a:t>
            </a:r>
            <a:r>
              <a:rPr lang="en-US" b="1" dirty="0" err="1" smtClean="0"/>
              <a:t>Flipkart</a:t>
            </a:r>
            <a:r>
              <a:rPr lang="en-US" b="1" dirty="0" smtClean="0"/>
              <a:t>, Amazon, </a:t>
            </a:r>
            <a:r>
              <a:rPr lang="en-US" b="1" dirty="0" err="1" smtClean="0"/>
              <a:t>BigBasket</a:t>
            </a:r>
            <a:r>
              <a:rPr lang="en-US" b="1" dirty="0" smtClean="0"/>
              <a:t>, </a:t>
            </a:r>
            <a:r>
              <a:rPr lang="en-US" b="1" dirty="0" err="1" smtClean="0"/>
              <a:t>Swiggy</a:t>
            </a:r>
            <a:r>
              <a:rPr lang="en-US" b="1" dirty="0" smtClean="0"/>
              <a:t> in South Indian cities)</a:t>
            </a:r>
            <a:endParaRPr lang="en-US" dirty="0" smtClean="0"/>
          </a:p>
          <a:p>
            <a:r>
              <a:rPr lang="en-US" dirty="0" smtClean="0"/>
              <a:t>Customers, delivery agents, and vendors are connected digitally.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Companies analyze </a:t>
            </a:r>
            <a:r>
              <a:rPr lang="en-US" b="1" dirty="0" smtClean="0"/>
              <a:t>customer networks</a:t>
            </a:r>
            <a:r>
              <a:rPr lang="en-US" dirty="0" smtClean="0"/>
              <a:t>, </a:t>
            </a:r>
            <a:r>
              <a:rPr lang="en-US" b="1" dirty="0" smtClean="0"/>
              <a:t>referrals</a:t>
            </a:r>
            <a:r>
              <a:rPr lang="en-US" dirty="0" smtClean="0"/>
              <a:t>, and </a:t>
            </a:r>
            <a:r>
              <a:rPr lang="en-US" b="1" dirty="0" smtClean="0"/>
              <a:t>trendsetters</a:t>
            </a:r>
            <a:r>
              <a:rPr lang="en-US" dirty="0" smtClean="0"/>
              <a:t> to boost sales.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Social Media Influencers from South India</a:t>
            </a:r>
            <a:endParaRPr lang="en-US" dirty="0" smtClean="0"/>
          </a:p>
          <a:p>
            <a:r>
              <a:rPr lang="en-US" dirty="0" smtClean="0"/>
              <a:t>YouTube, </a:t>
            </a:r>
            <a:r>
              <a:rPr lang="en-US" dirty="0" err="1" smtClean="0"/>
              <a:t>Instagram</a:t>
            </a:r>
            <a:r>
              <a:rPr lang="en-US" dirty="0" smtClean="0"/>
              <a:t>, and </a:t>
            </a:r>
            <a:r>
              <a:rPr lang="en-US" dirty="0" err="1" smtClean="0"/>
              <a:t>TikTok</a:t>
            </a:r>
            <a:r>
              <a:rPr lang="en-US" dirty="0" smtClean="0"/>
              <a:t> influencers from Hyderabad, Bangalore, or Chennai.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Identify </a:t>
            </a:r>
            <a:r>
              <a:rPr lang="en-US" b="1" dirty="0" smtClean="0"/>
              <a:t>most connected influencers</a:t>
            </a:r>
            <a:r>
              <a:rPr lang="en-US" dirty="0" smtClean="0"/>
              <a:t>, </a:t>
            </a:r>
            <a:r>
              <a:rPr lang="en-US" b="1" dirty="0" smtClean="0"/>
              <a:t>viral content spread</a:t>
            </a:r>
            <a:r>
              <a:rPr lang="en-US" dirty="0" smtClean="0"/>
              <a:t>, or </a:t>
            </a:r>
            <a:r>
              <a:rPr lang="en-US" b="1" dirty="0" smtClean="0"/>
              <a:t>regional trends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Local Festivals / Cultural Events</a:t>
            </a:r>
            <a:endParaRPr lang="en-US" dirty="0" smtClean="0"/>
          </a:p>
          <a:p>
            <a:r>
              <a:rPr lang="en-US" dirty="0" smtClean="0"/>
              <a:t>Students or residents attend events like </a:t>
            </a:r>
            <a:r>
              <a:rPr lang="en-US" b="1" dirty="0" err="1" smtClean="0"/>
              <a:t>Pongal</a:t>
            </a:r>
            <a:r>
              <a:rPr lang="en-US" b="1" dirty="0" smtClean="0"/>
              <a:t> (Tamil Nadu), </a:t>
            </a:r>
            <a:r>
              <a:rPr lang="en-US" b="1" dirty="0" err="1" smtClean="0"/>
              <a:t>Ugadi</a:t>
            </a:r>
            <a:r>
              <a:rPr lang="en-US" b="1" dirty="0" smtClean="0"/>
              <a:t> (Karnataka/Andhra/</a:t>
            </a:r>
            <a:r>
              <a:rPr lang="en-US" b="1" dirty="0" err="1" smtClean="0"/>
              <a:t>Telangana</a:t>
            </a:r>
            <a:r>
              <a:rPr lang="en-US" b="1" dirty="0" smtClean="0"/>
              <a:t>), </a:t>
            </a:r>
            <a:r>
              <a:rPr lang="en-US" b="1" dirty="0" err="1" smtClean="0"/>
              <a:t>Onam</a:t>
            </a:r>
            <a:r>
              <a:rPr lang="en-US" b="1" dirty="0" smtClean="0"/>
              <a:t> (Kerala)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SNA application:</a:t>
            </a:r>
            <a:r>
              <a:rPr lang="en-US" dirty="0" smtClean="0"/>
              <a:t> Organizers can map </a:t>
            </a:r>
            <a:r>
              <a:rPr lang="en-US" b="1" dirty="0" smtClean="0"/>
              <a:t>volunteers</a:t>
            </a:r>
            <a:r>
              <a:rPr lang="en-US" dirty="0" smtClean="0"/>
              <a:t>, </a:t>
            </a:r>
            <a:r>
              <a:rPr lang="en-US" b="1" dirty="0" smtClean="0"/>
              <a:t>performers</a:t>
            </a:r>
            <a:r>
              <a:rPr lang="en-US" dirty="0" smtClean="0"/>
              <a:t>, and </a:t>
            </a:r>
            <a:r>
              <a:rPr lang="en-US" b="1" dirty="0" smtClean="0"/>
              <a:t>audience networks</a:t>
            </a:r>
            <a:r>
              <a:rPr lang="en-US" dirty="0" smtClean="0"/>
              <a:t> to manage large gatherings.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Social Network Analysis (SNA)?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of social networks to collect, analyze, and understand information about connections and interactions.</a:t>
            </a:r>
          </a:p>
          <a:p>
            <a:r>
              <a:t>Focus on relationships and connections, not just individuals.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SNA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Who is connected to whom?</a:t>
            </a:r>
          </a:p>
          <a:p>
            <a:r>
              <a:t>Who is an influencer or trendsetter?</a:t>
            </a:r>
          </a:p>
          <a:p>
            <a:r>
              <a:t>Who spreads information fast or slowly?</a:t>
            </a:r>
          </a:p>
          <a:p>
            <a:r>
              <a:t>Who is active or isolated?</a:t>
            </a:r>
          </a:p>
          <a:p>
            <a:r>
              <a:t>Which people form groups or communities?</a:t>
            </a:r>
          </a:p>
          <a:p>
            <a:r>
              <a:t>Who connects different groups?</a:t>
            </a:r>
          </a:p>
          <a:p>
            <a:r>
              <a:t>Which connections are strong or weak?</a:t>
            </a:r>
          </a:p>
          <a:p>
            <a:r>
              <a:t>How information flows from one person to many?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Main Objectives of Social Network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To Identify Relationships and Connections</a:t>
            </a:r>
            <a:endParaRPr lang="en-US" dirty="0" smtClean="0"/>
          </a:p>
          <a:p>
            <a:r>
              <a:rPr lang="en-US" dirty="0" smtClean="0"/>
              <a:t>SNA helps understand </a:t>
            </a:r>
            <a:r>
              <a:rPr lang="en-US" b="1" dirty="0" smtClean="0"/>
              <a:t>who is connected to whom</a:t>
            </a:r>
            <a:r>
              <a:rPr lang="en-US" dirty="0" smtClean="0"/>
              <a:t> in a network.</a:t>
            </a:r>
          </a:p>
          <a:p>
            <a:r>
              <a:rPr lang="en-US" dirty="0" smtClean="0"/>
              <a:t>Example: In a classroom, which students interact frequently and which students are isolated.</a:t>
            </a:r>
          </a:p>
          <a:p>
            <a:r>
              <a:rPr lang="en-US" b="1" dirty="0" smtClean="0"/>
              <a:t>To Identify Influencers and Key Actors</a:t>
            </a:r>
            <a:endParaRPr lang="en-US" dirty="0" smtClean="0"/>
          </a:p>
          <a:p>
            <a:r>
              <a:rPr lang="en-US" dirty="0" smtClean="0"/>
              <a:t>SNA finds </a:t>
            </a:r>
            <a:r>
              <a:rPr lang="en-US" b="1" dirty="0" smtClean="0"/>
              <a:t>important or influential individuals</a:t>
            </a:r>
            <a:r>
              <a:rPr lang="en-US" dirty="0" smtClean="0"/>
              <a:t> in a network.</a:t>
            </a:r>
          </a:p>
          <a:p>
            <a:r>
              <a:rPr lang="en-US" dirty="0" smtClean="0"/>
              <a:t>These people may spread information faster or influence others’ decisions.</a:t>
            </a:r>
          </a:p>
          <a:p>
            <a:r>
              <a:rPr lang="en-US" dirty="0" smtClean="0"/>
              <a:t>Example: A student whose messages are read and followed by everyone in a </a:t>
            </a:r>
            <a:r>
              <a:rPr lang="en-US" dirty="0" err="1" smtClean="0"/>
              <a:t>WhatsApp</a:t>
            </a:r>
            <a:r>
              <a:rPr lang="en-US" dirty="0" smtClean="0"/>
              <a:t> group.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To Understand Information Flow</a:t>
            </a:r>
            <a:endParaRPr lang="en-US" dirty="0" smtClean="0"/>
          </a:p>
          <a:p>
            <a:r>
              <a:rPr lang="en-US" dirty="0" smtClean="0"/>
              <a:t>SNA studies </a:t>
            </a:r>
            <a:r>
              <a:rPr lang="en-US" b="1" dirty="0" smtClean="0"/>
              <a:t>how information spreads</a:t>
            </a:r>
            <a:r>
              <a:rPr lang="en-US" dirty="0" smtClean="0"/>
              <a:t> from one person to another.</a:t>
            </a:r>
          </a:p>
          <a:p>
            <a:r>
              <a:rPr lang="en-US" dirty="0" smtClean="0"/>
              <a:t>Example: How news, rumors, or trends become viral on social media.</a:t>
            </a:r>
          </a:p>
          <a:p>
            <a:r>
              <a:rPr lang="en-US" b="1" dirty="0" smtClean="0"/>
              <a:t>To Detect Communities or Groups</a:t>
            </a:r>
            <a:endParaRPr lang="en-US" dirty="0" smtClean="0"/>
          </a:p>
          <a:p>
            <a:r>
              <a:rPr lang="en-US" dirty="0" smtClean="0"/>
              <a:t>SNA identifies </a:t>
            </a:r>
            <a:r>
              <a:rPr lang="en-US" b="1" dirty="0" smtClean="0"/>
              <a:t>clusters or communities</a:t>
            </a:r>
            <a:r>
              <a:rPr lang="en-US" dirty="0" smtClean="0"/>
              <a:t> within a large network.</a:t>
            </a:r>
          </a:p>
          <a:p>
            <a:r>
              <a:rPr lang="en-US" dirty="0" smtClean="0"/>
              <a:t>Example: Students forming study groups or people forming interest-based online communities.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To Measure Activity and Participation</a:t>
            </a:r>
            <a:endParaRPr lang="en-US" dirty="0" smtClean="0"/>
          </a:p>
          <a:p>
            <a:r>
              <a:rPr lang="en-US" dirty="0" smtClean="0"/>
              <a:t>SNA helps identify who is </a:t>
            </a:r>
            <a:r>
              <a:rPr lang="en-US" b="1" dirty="0" smtClean="0"/>
              <a:t>very active</a:t>
            </a:r>
            <a:r>
              <a:rPr lang="en-US" dirty="0" smtClean="0"/>
              <a:t> and who is </a:t>
            </a:r>
            <a:r>
              <a:rPr lang="en-US" b="1" dirty="0" smtClean="0"/>
              <a:t>less active</a:t>
            </a:r>
            <a:r>
              <a:rPr lang="en-US" dirty="0" smtClean="0"/>
              <a:t> in a network.</a:t>
            </a:r>
          </a:p>
          <a:p>
            <a:r>
              <a:rPr lang="en-US" dirty="0" smtClean="0"/>
              <a:t>Example: In social media, users who post daily versus users who rarely interact.</a:t>
            </a:r>
          </a:p>
          <a:p>
            <a:r>
              <a:rPr lang="en-US" b="1" dirty="0" smtClean="0"/>
              <a:t>To Support Decision-Making</a:t>
            </a:r>
            <a:endParaRPr lang="en-US" dirty="0" smtClean="0"/>
          </a:p>
          <a:p>
            <a:r>
              <a:rPr lang="en-US" dirty="0" smtClean="0"/>
              <a:t>Governments, businesses, and health organizations use SNA to make </a:t>
            </a:r>
            <a:r>
              <a:rPr lang="en-US" b="1" dirty="0" smtClean="0"/>
              <a:t>better decisions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 Choosing the right people to spread awareness about public health programs.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SNA Works in Everyday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Class WhatsApp Group: identify active students, leaders, isolated members.</a:t>
            </a:r>
          </a:p>
          <a:p>
            <a:r>
              <a:t>Classroom: analyze collaboration, influence.</a:t>
            </a:r>
          </a:p>
          <a:p>
            <a:r>
              <a:t>Residential Society: identify community leaders, spread information.</a:t>
            </a:r>
          </a:p>
          <a:p>
            <a:r>
              <a:t>Family/Friend Networks: study strong/weak ties and influence.</a:t>
            </a:r>
          </a:p>
          <a:p>
            <a:r>
              <a:t>Social Media Platforms: track influencers, viral posts, information flow.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SNA is Important – India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organizations understand people, connections, and information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Government Programs / Awareness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Swachh Bharat, Digital India, Ayushman Bharat.</a:t>
            </a:r>
          </a:p>
          <a:p>
            <a:r>
              <a:t>SNA identifies influential citizens to spread messages efficiently.</a:t>
            </a:r>
          </a:p>
          <a:p>
            <a:r>
              <a:t>Benefit: Information reaches more people, even in remote areas.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Disease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COVID-19 tracking in India.</a:t>
            </a:r>
          </a:p>
          <a:p>
            <a:r>
              <a:t>SNA maps contacts, identifies super-spreaders.</a:t>
            </a:r>
          </a:p>
          <a:p>
            <a:r>
              <a:t>Benefit: Helps contain disease, prioritize testing, enforce quarantine.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Tracking Terrorists / Criminal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Security agencies in Kashmir, Mumbai, Delhi.</a:t>
            </a:r>
          </a:p>
          <a:p>
            <a:r>
              <a:t>SNA studies connections between criminals.</a:t>
            </a:r>
          </a:p>
          <a:p>
            <a:r>
              <a:t>Benefit: Identify key leaders, dismantle networks, prevent crime.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and Market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Flipkart, Amazon, Swiggy, Big Bazaar.</a:t>
            </a:r>
          </a:p>
          <a:p>
            <a:r>
              <a:t>SNA analyzes customer networks, referrals, and influencers.</a:t>
            </a:r>
          </a:p>
          <a:p>
            <a:r>
              <a:t>Benefit: Targeted marketing, increased sales, understanding consumer behavior.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Indian influencers on Instagram, YouTube, Twitter.</a:t>
            </a:r>
          </a:p>
          <a:p>
            <a:r>
              <a:t>SNA tracks most connected users, viral content, audience reach.</a:t>
            </a:r>
          </a:p>
          <a:p>
            <a:r>
              <a:t>Benefit: Organizations reach the right audience efficiently.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Social Media Helps SNA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Social media generates large, rich network data.</a:t>
            </a:r>
          </a:p>
          <a:p>
            <a:r>
              <a:t>Identify influencers and trendsetters.</a:t>
            </a:r>
          </a:p>
          <a:p>
            <a:r>
              <a:t>Detect communities or groups with common interests.</a:t>
            </a:r>
          </a:p>
          <a:p>
            <a:r>
              <a:t>Track information flow across networks.</a:t>
            </a:r>
          </a:p>
          <a:p>
            <a:r>
              <a:t>Support market analysis, targeted advertising, and public opinion research.</a:t>
            </a:r>
          </a:p>
          <a:p>
            <a:r>
              <a:t>Example: Government campaigns or product promotions identify key users for maximum reach.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Social networks exist everywhere: classrooms, families, workplaces, communities, social media.</a:t>
            </a:r>
          </a:p>
          <a:p>
            <a:r>
              <a:t>SNA helps study, understand, and use these connections for decision-making in government, health, security, business, and research.</a:t>
            </a:r>
          </a:p>
          <a:p>
            <a:r>
              <a:t>Next lectures: network representation, analysis, and visualization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1217</Words>
  <Application>Microsoft Office PowerPoint</Application>
  <PresentationFormat>On-screen Show (4:3)</PresentationFormat>
  <Paragraphs>120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Introduction</vt:lpstr>
      <vt:lpstr>Slide 2</vt:lpstr>
      <vt:lpstr>What is a Social Network?</vt:lpstr>
      <vt:lpstr>Slide 4</vt:lpstr>
      <vt:lpstr>Slide 5</vt:lpstr>
      <vt:lpstr>Examples of Social Networks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What is Social Network Analysis (SNA)?</vt:lpstr>
      <vt:lpstr>Questions SNA Answers</vt:lpstr>
      <vt:lpstr>Main Objectives of Social Network Analysis</vt:lpstr>
      <vt:lpstr>Slide 18</vt:lpstr>
      <vt:lpstr>Slide 19</vt:lpstr>
      <vt:lpstr>How SNA Works in Everyday Examples</vt:lpstr>
      <vt:lpstr>Why SNA is Important – India Examples</vt:lpstr>
      <vt:lpstr>Government Programs / Awareness Campaigns</vt:lpstr>
      <vt:lpstr>Tracking Disease Spread</vt:lpstr>
      <vt:lpstr>Tracking Terrorists / Criminal Networks</vt:lpstr>
      <vt:lpstr>Business and Market Understanding</vt:lpstr>
      <vt:lpstr>Social Media Campaigns</vt:lpstr>
      <vt:lpstr>How Social Media Helps SNA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lastModifiedBy>sumit kumar</cp:lastModifiedBy>
  <cp:revision>14</cp:revision>
  <dcterms:created xsi:type="dcterms:W3CDTF">2013-01-27T09:14:16Z</dcterms:created>
  <dcterms:modified xsi:type="dcterms:W3CDTF">2025-12-17T08:25:28Z</dcterms:modified>
  <cp:category/>
</cp:coreProperties>
</file>